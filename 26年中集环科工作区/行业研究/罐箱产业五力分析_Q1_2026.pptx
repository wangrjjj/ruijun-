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"/>
            <a:ext cx="11643055" cy="54864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ISO罐式集装箱产业 — 波特五力分析（Porter's Five Forces）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B0C4DE"/>
                </a:solidFill>
                <a:latin typeface="Microsoft YaHei"/>
              </a:rPr>
              <a:t>2026年Q1经营数据视角  |  全球罐箱保有量 899,044台  |  新造产能 ~12万台/年  |  行业产能利用率 24%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49470" y="914400"/>
            <a:ext cx="3291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6200" bIns="50800" lIns="101600" rIns="101600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B3A5C"/>
                </a:solidFill>
                <a:latin typeface="Microsoft YaHei"/>
              </a:rPr>
              <a:t>⬆ 新进入者威胁</a:t>
            </a:r>
            <a:r>
              <a:rPr sz="1000" b="1">
                <a:solidFill>
                  <a:srgbClr val="27AE60"/>
                </a:solidFill>
                <a:latin typeface="Microsoft YaHei"/>
              </a:rPr>
              <a:t>  【低】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资质壁垒：UN/IMDG/ADR/TSG多国认证，周期18-24月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资本壁垒：特罐单条产线投资9,980万元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规模经济：行业产能利用率仅24%，新进入者难盈利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技术积累：焊接工艺经验20+年，专有设计难复制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Q1信号：全球仅新造28,521台（15年低位）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470" y="5623560"/>
            <a:ext cx="3291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6200" bIns="50800" lIns="101600" rIns="101600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B3A5C"/>
                </a:solidFill>
                <a:latin typeface="Microsoft YaHei"/>
              </a:rPr>
              <a:t>⬇ 替代品威胁</a:t>
            </a:r>
            <a:r>
              <a:rPr sz="1000" b="1">
                <a:solidFill>
                  <a:srgbClr val="27AE60"/>
                </a:solidFill>
                <a:latin typeface="Microsoft YaHei"/>
              </a:rPr>
              <a:t>  【低-中】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公路罐车：仅适用短途，不可多式联运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铁路罐车：大宗散货专用，路径固定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Flexitank：仅非危险品液体，一次性使用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ISO罐箱优势：多式联运+可重复使用+全球标准化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Q1信号：全球保有量同比+1.93%，化工贸易持续增长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537460"/>
            <a:ext cx="3291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E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6200" bIns="50800" lIns="101600" rIns="101600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B3A5C"/>
                </a:solidFill>
                <a:latin typeface="Microsoft YaHei"/>
              </a:rPr>
              <a:t>⬅ 供应商议价能力</a:t>
            </a:r>
            <a:r>
              <a:rPr sz="1000" b="1">
                <a:solidFill>
                  <a:srgbClr val="27AE60"/>
                </a:solidFill>
                <a:latin typeface="Microsoft YaHei"/>
              </a:rPr>
              <a:t>  【中低】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316L不锈钢（占成本40-50%）：中国产能过剩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  · 国内5,000万吨产能 vs 3,250万吨需求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  · 国内 $1.70/kg vs 国际 $4.60-5.10/kg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中集为全球最大单一316L采购商，议价力强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阀门：Fort Vale/Perolo双寡头，但中集自制率↑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  · 人孔凸缘自制80%、V型防波板100%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2537460"/>
            <a:ext cx="3291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6200" bIns="50800" lIns="101600" rIns="101600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B3A5C"/>
                </a:solidFill>
                <a:latin typeface="Microsoft YaHei"/>
              </a:rPr>
              <a:t>➡ 客户议价能力</a:t>
            </a:r>
            <a:r>
              <a:rPr sz="1000" b="1">
                <a:solidFill>
                  <a:srgbClr val="E67E22"/>
                </a:solidFill>
                <a:latin typeface="Microsoft YaHei"/>
              </a:rPr>
              <a:t>  【中高】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租赁商（占保有量43%）：~15%闲置率，扩张放缓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运营商（占使用量70%）：Hoyer/Stolt集中采购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Q1: 运营商+租赁商签单占比88.7%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标准罐均价 USD 1.31-1.38万（持续承压）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订单+204% 但收入仅+120% → 以量换价明显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 b="0">
                <a:solidFill>
                  <a:srgbClr val="2C2C2C"/>
                </a:solidFill>
                <a:latin typeface="Microsoft YaHei"/>
              </a:rPr>
              <a:t>• 对策：向特种罐/智能罐/后市场差异化转型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2377440"/>
            <a:ext cx="3474720" cy="2286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 w="317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bIns="76200" lIns="127000" rIns="127000" wrap="square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行业内竞争</a:t>
            </a:r>
            <a:r>
              <a:rPr sz="1400" b="1">
                <a:solidFill>
                  <a:srgbClr val="FF6B6B"/>
                </a:solidFill>
                <a:latin typeface="Microsoft YaHei"/>
              </a:rPr>
              <a:t>  【高】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>
                <a:solidFill>
                  <a:srgbClr val="E8F0F8"/>
                </a:solidFill>
                <a:latin typeface="Microsoft YaHei"/>
              </a:rPr>
              <a:t>• Top 7占全球产量93%，中集市场份额~50%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>
                <a:solidFill>
                  <a:srgbClr val="E8F0F8"/>
                </a:solidFill>
                <a:latin typeface="Microsoft YaHei"/>
              </a:rPr>
              <a:t>• 产能利用率仅24%（中集Q1: 38%）→ 价格战激烈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>
                <a:solidFill>
                  <a:srgbClr val="E8F0F8"/>
                </a:solidFill>
                <a:latin typeface="Microsoft YaHei"/>
              </a:rPr>
              <a:t>• Q1标准罐段亏损 -1,581万，毛利承压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>
                <a:solidFill>
                  <a:srgbClr val="E8F0F8"/>
                </a:solidFill>
                <a:latin typeface="Microsoft YaHei"/>
              </a:rPr>
              <a:t>• NT Tank/JJAP低价策略侵蚀份额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>
                <a:solidFill>
                  <a:srgbClr val="E8F0F8"/>
                </a:solidFill>
                <a:latin typeface="Microsoft YaHei"/>
              </a:rPr>
              <a:t>• 分化路径：特种罐毛利16% vs 标准罐微利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750">
                <a:solidFill>
                  <a:srgbClr val="E8F0F8"/>
                </a:solidFill>
                <a:latin typeface="Microsoft YaHei"/>
              </a:rPr>
              <a:t>• Q1订单爆发+204%，3月单月扭亏 → 周期回暖信号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58230" y="2926080"/>
            <a:ext cx="274320" cy="320040"/>
          </a:xfrm>
          <a:prstGeom prst="down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 Arrow 8"/>
          <p:cNvSpPr/>
          <p:nvPr/>
        </p:nvSpPr>
        <p:spPr>
          <a:xfrm>
            <a:off x="5958230" y="5257800"/>
            <a:ext cx="274320" cy="320040"/>
          </a:xfrm>
          <a:prstGeom prst="up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703320" y="3383280"/>
            <a:ext cx="411480" cy="27432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ft Arrow 10"/>
          <p:cNvSpPr/>
          <p:nvPr/>
        </p:nvSpPr>
        <p:spPr>
          <a:xfrm>
            <a:off x="8076895" y="3383280"/>
            <a:ext cx="411480" cy="274320"/>
          </a:xfrm>
          <a:prstGeom prst="lef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6263640"/>
            <a:ext cx="11643055" cy="4572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50800"/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综合评估：</a:t>
            </a:r>
            <a:r>
              <a:rPr sz="800">
                <a:solidFill>
                  <a:srgbClr val="D6E8F7"/>
                </a:solidFill>
                <a:latin typeface="Microsoft YaHei"/>
              </a:rPr>
              <a:t>行业竞争烈度高，客户议价能力强，但进入壁垒与替代威胁低→行业格局有利于在位龙头。中集环科核心战略：① 特种罐+智能罐差异化提升定价权  ② 后市场服务构建客户粘性  ③ 316L成本优势筑底护城河  ④ 产能弹性应对周期波动（Q1产能利用率38%→目标55%+）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379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>
                <a:solidFill>
                  <a:srgbClr val="7F8C8D"/>
                </a:solidFill>
                <a:latin typeface="Microsoft YaHei"/>
              </a:rPr>
              <a:t>数据来源：Q1经营指标 / ITCO / 行业研究报告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